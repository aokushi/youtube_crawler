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72" r:id="rId5"/>
    <p:sldId id="323" r:id="rId6"/>
    <p:sldId id="318" r:id="rId7"/>
    <p:sldId id="322" r:id="rId8"/>
    <p:sldId id="320" r:id="rId9"/>
    <p:sldId id="324" r:id="rId10"/>
    <p:sldId id="321" r:id="rId11"/>
    <p:sldId id="319" r:id="rId12"/>
    <p:sldId id="317" r:id="rId13"/>
    <p:sldId id="312" r:id="rId14"/>
    <p:sldId id="313" r:id="rId15"/>
    <p:sldId id="314" r:id="rId16"/>
    <p:sldId id="315" r:id="rId17"/>
    <p:sldId id="310" r:id="rId18"/>
    <p:sldId id="316" r:id="rId19"/>
    <p:sldId id="30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 lvl="0"/>
              <a:t>2025-05-04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8243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 lvl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406368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 lvl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95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이해를 돕기 위해 페르소나를 준비했습니다</a:t>
            </a:r>
            <a:endParaRPr lang="ko-KR" alt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645175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6818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232698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61299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633097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17769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282236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082173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05049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426237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80409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7764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515980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078311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이해를 돕기 위해 페르소나를 준비했습니다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395821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8523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pn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pn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4.png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5.png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9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1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2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9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8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0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8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9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03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355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0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8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44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28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26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slideLayout" Target="../slideLayouts/slideLayout17.xml"  /><Relationship Id="rId18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038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685799" y="1464979"/>
            <a:ext cx="7772400" cy="147002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>
                <a:latin typeface="나눔고딕"/>
                <a:ea typeface="나눔고딕"/>
              </a:rPr>
              <a:t>YouTube Crawler</a:t>
            </a:r>
            <a:endParaRPr lang="ko-KR" altLang="en-US" sz="4000">
              <a:latin typeface="나눔고딕"/>
              <a:ea typeface="나눔고딕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4016"/>
            <a:ext cx="6400800" cy="1143866"/>
          </a:xfrm>
          <a:ln>
            <a:noFill/>
          </a:ln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YouTube 댓글 감성 분석 웹 프로젝트</a:t>
            </a:r>
            <a:endParaRPr lang="ko-KR" altLang="en-US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1371600" y="5372621"/>
            <a:ext cx="6400800" cy="108063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lnSpcReduction="10000"/>
          </a:bodyPr>
          <a:lstStyle/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kumimoji="0" lang="en-US" altLang="ko-KR" sz="2000" b="0" i="0" u="none" strike="noStrike" kern="1200" cap="none" spc="0" normalizeH="0" baseline="0">
                <a:solidFill>
                  <a:schemeClr val="tx1"/>
                </a:solidFill>
                <a:latin typeface="나눔고딕"/>
                <a:ea typeface="나눔고딕"/>
              </a:rPr>
              <a:t>6/25</a:t>
            </a:r>
            <a:r>
              <a:rPr kumimoji="0" lang="ko-KR" altLang="en-US" sz="2000" b="0" i="0" u="none" strike="noStrike" kern="1200" cap="none" spc="0" normalizeH="0" baseline="0">
                <a:solidFill>
                  <a:schemeClr val="tx1"/>
                </a:solidFill>
                <a:latin typeface="나눔고딕"/>
                <a:ea typeface="나눔고딕"/>
              </a:rPr>
              <a:t> 발표</a:t>
            </a:r>
            <a:endParaRPr kumimoji="0" lang="ko-KR" altLang="en-US" sz="2000" b="0" i="0" u="none" strike="noStrike" kern="1200" cap="none" spc="0" normalizeH="0" baseline="0">
              <a:solidFill>
                <a:schemeClr val="tx1"/>
              </a:solidFill>
              <a:latin typeface="나눔고딕"/>
              <a:ea typeface="나눔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endParaRPr kumimoji="0" lang="ko-KR" altLang="en-US" sz="2000" b="0" i="0" u="none" strike="noStrike" kern="1200" cap="none" spc="0" normalizeH="0" baseline="0">
              <a:solidFill>
                <a:schemeClr val="tx1"/>
              </a:solidFill>
              <a:latin typeface="나눔고딕"/>
              <a:ea typeface="나눔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r>
              <a:rPr kumimoji="0" lang="ko-KR" altLang="en-US" sz="2000" b="0" i="0" u="none" strike="noStrike" kern="1200" cap="none" spc="0" normalizeH="0" baseline="0">
                <a:solidFill>
                  <a:schemeClr val="tx1"/>
                </a:solidFill>
                <a:latin typeface="나눔고딕"/>
                <a:ea typeface="나눔고딕"/>
              </a:rPr>
              <a:t>김태환</a:t>
            </a:r>
            <a:endParaRPr kumimoji="0" lang="ko-KR" altLang="en-US" sz="2000" b="0" i="0" u="none" strike="noStrike" kern="1200" cap="none" spc="0" normalizeH="0" baseline="0">
              <a:solidFill>
                <a:schemeClr val="tx1"/>
              </a:solidFill>
              <a:latin typeface="나눔고딕"/>
              <a:ea typeface="나눔고딕"/>
            </a:endParaRPr>
          </a:p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  <a:defRPr/>
            </a:pPr>
            <a:endParaRPr kumimoji="0" lang="ko-KR" altLang="en-US" sz="2000" b="0" i="0" u="none" strike="noStrike" kern="1200" cap="none" spc="0" normalizeH="0" baseline="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목차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indent="-305435">
              <a:defRPr/>
            </a:pPr>
            <a:r>
              <a:rPr lang="ko-KR" altLang="en-US">
                <a:ea typeface="돋움"/>
              </a:rPr>
              <a:t>1. 프로젝트 개요</a:t>
            </a:r>
            <a:endParaRPr lang="ko-KR" altLang="en-US">
              <a:ea typeface="돋움"/>
            </a:endParaRPr>
          </a:p>
          <a:p>
            <a:pPr lvl="0" indent="-305435">
              <a:defRPr/>
            </a:pPr>
            <a:r>
              <a:rPr lang="en-US" altLang="ko-KR">
                <a:ea typeface="돋움"/>
              </a:rPr>
              <a:t>2. </a:t>
            </a:r>
            <a:r>
              <a:rPr lang="ko-KR" altLang="en-US">
                <a:ea typeface="돋움"/>
              </a:rPr>
              <a:t>주요 기능</a:t>
            </a:r>
            <a:endParaRPr lang="ko-KR" altLang="en-US">
              <a:ea typeface="돋움"/>
            </a:endParaRPr>
          </a:p>
          <a:p>
            <a:pPr lvl="1">
              <a:defRPr/>
            </a:pPr>
            <a:r>
              <a:rPr lang="ko-KR" altLang="en-US"/>
              <a:t>데이터 준비 및 전처리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모델 학습 및 저장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YouTube 댓글 크롤러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Streamlit 웹 애플리케이션</a:t>
            </a:r>
            <a:endParaRPr lang="ko-KR" altLang="en-US"/>
          </a:p>
          <a:p>
            <a:pPr lvl="0" indent="-305435">
              <a:defRPr/>
            </a:pPr>
            <a:r>
              <a:rPr lang="en-US" altLang="ko-KR"/>
              <a:t>3. </a:t>
            </a:r>
            <a:r>
              <a:rPr lang="ko-KR" altLang="en-US"/>
              <a:t>분석 결과</a:t>
            </a:r>
            <a:endParaRPr lang="ko-KR" altLang="en-US"/>
          </a:p>
          <a:p>
            <a:pPr lvl="0" indent="-305435">
              <a:defRPr/>
            </a:pPr>
            <a:r>
              <a:rPr xmlns:mc="http://schemas.openxmlformats.org/markup-compatibility/2006" xmlns:hp="http://schemas.haansoft.com/office/presentation/8.0" lang="ko-KR" altLang="en-US" mc:Ignorable="hp" hp:hslEmbossed="0">
                <a:ln w="9525"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돋움"/>
              </a:rPr>
              <a:t>4. 시스템 구성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ea typeface="돋움"/>
            </a:endParaRPr>
          </a:p>
          <a:p>
            <a:pPr lvl="1" indent="-305435">
              <a:defRPr/>
            </a:pPr>
            <a:r>
              <a:rPr lang="en-US" altLang="ko-KR"/>
              <a:t>use-case diagram</a:t>
            </a:r>
            <a:endParaRPr lang="en-US" altLang="ko-KR"/>
          </a:p>
          <a:p>
            <a:pPr lvl="1" indent="-305435">
              <a:defRPr/>
            </a:pPr>
            <a:r>
              <a:rPr lang="ko-KR" altLang="en-US"/>
              <a:t>요구사항 명세서</a:t>
            </a:r>
            <a:endParaRPr xmlns:mc="http://schemas.openxmlformats.org/markup-compatibility/2006" xmlns:hp="http://schemas.haansoft.com/office/presentation/8.0" lang="ko-KR" altLang="en-US" mc:Ignorable="hp" hp:hslEmbossed="0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ea typeface="돋움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유튜브 댓글 크롤링 및 라벨링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기존의 유트브 댓글 크롤러</a:t>
            </a:r>
            <a:r>
              <a:rPr lang="en-US" altLang="ko-KR"/>
              <a:t>(YoutubeCrawlerForData.py)</a:t>
            </a:r>
            <a:r>
              <a:rPr lang="ko-KR" altLang="en-US"/>
              <a:t>에 </a:t>
            </a:r>
            <a:r>
              <a:rPr lang="en-US" altLang="ko-KR"/>
              <a:t>myLangchainService.py(</a:t>
            </a:r>
            <a:r>
              <a:rPr lang="ko-KR" altLang="en-US"/>
              <a:t>교수님께 제공받은 </a:t>
            </a:r>
            <a:r>
              <a:rPr lang="en-US" altLang="ko-KR"/>
              <a:t>LLM</a:t>
            </a:r>
            <a:r>
              <a:rPr lang="ko-KR" altLang="en-US"/>
              <a:t>감성분석 코드</a:t>
            </a:r>
            <a:r>
              <a:rPr lang="en-US" altLang="ko-KR"/>
              <a:t>)</a:t>
            </a:r>
            <a:r>
              <a:rPr lang="ko-KR" altLang="en-US"/>
              <a:t>를 적용 시켜 댓글 크롤링과 라벨링 작업을 동시에 진행하는 코드</a:t>
            </a:r>
            <a:r>
              <a:rPr lang="en-US" altLang="ko-KR"/>
              <a:t>(YoutubeCrawlerForDataV2.py)</a:t>
            </a:r>
            <a:r>
              <a:rPr lang="ko-KR" altLang="en-US"/>
              <a:t>를 작성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myLangchainService.py</a:t>
            </a:r>
            <a:r>
              <a:rPr lang="ko-KR" altLang="en-US"/>
              <a:t>는 </a:t>
            </a:r>
            <a:r>
              <a:rPr lang="en-US" altLang="ko-KR"/>
              <a:t>LLM</a:t>
            </a:r>
            <a:r>
              <a:rPr lang="ko-KR" altLang="en-US"/>
              <a:t>모델명과 엔드포인트</a:t>
            </a:r>
            <a:r>
              <a:rPr lang="en-US" altLang="ko-KR"/>
              <a:t>,</a:t>
            </a:r>
            <a:r>
              <a:rPr lang="ko-KR" altLang="en-US"/>
              <a:t> 프롬프트 수정 후 적용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프롬프트 수정 </a:t>
            </a:r>
            <a:r>
              <a:rPr lang="en-US" altLang="ko-KR"/>
              <a:t>1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긍정</a:t>
            </a:r>
            <a:r>
              <a:rPr lang="en-US" altLang="ko-KR"/>
              <a:t>,</a:t>
            </a:r>
            <a:r>
              <a:rPr lang="ko-KR" altLang="en-US"/>
              <a:t> 부정</a:t>
            </a:r>
            <a:r>
              <a:rPr lang="en-US" altLang="ko-KR"/>
              <a:t>,</a:t>
            </a:r>
            <a:r>
              <a:rPr lang="ko-KR" altLang="en-US"/>
              <a:t> 중립 라벨링을 정수형</a:t>
            </a:r>
            <a:r>
              <a:rPr lang="en-US" altLang="ko-KR"/>
              <a:t>(1,</a:t>
            </a:r>
            <a:r>
              <a:rPr lang="ko-KR" altLang="en-US"/>
              <a:t> </a:t>
            </a:r>
            <a:r>
              <a:rPr lang="en-US" altLang="ko-KR"/>
              <a:t>-1,</a:t>
            </a:r>
            <a:r>
              <a:rPr lang="ko-KR" altLang="en-US"/>
              <a:t> </a:t>
            </a:r>
            <a:r>
              <a:rPr lang="en-US" altLang="ko-KR"/>
              <a:t>0)</a:t>
            </a:r>
            <a:r>
              <a:rPr lang="ko-KR" altLang="en-US"/>
              <a:t>으로 전환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프롬프트 수정 </a:t>
            </a:r>
            <a:r>
              <a:rPr lang="en-US" altLang="ko-KR"/>
              <a:t>2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토큰 수를 줄이기 위해 영문 프롬포트로 작성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52739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33313" y="0"/>
            <a:ext cx="6877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2920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479799"/>
            <a:ext cx="9144000" cy="322198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557446" y="4785860"/>
            <a:ext cx="2029108" cy="15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5758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740707"/>
            <a:ext cx="9144000" cy="337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30412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704858"/>
            <a:ext cx="9144000" cy="41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34388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3512" y="0"/>
            <a:ext cx="7176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1443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AIHub 속성기반 감정분석 데이터(62MB) 다운로드 및 JSON 통합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createCSV.py로 CSV 변환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01366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AIHub 속성기반 감정분석 데이터(62MB) 다운로드 및 JSON 통합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createCSV.py로 CSV 변환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688338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데이터 준비 및 전처리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AIHub 속성기반 감정분석 데이터(62MB) 다운로드 및 JSON 통합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createCSV.py로 CSV 변환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890430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모델 학습 및 저장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train_model.py로 LSTM 모델 학습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Embedding → LSTM → Dense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EarlyStopping 적용 후 최적 모델 저장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Tokenizer와 모델을 lib/model 폴더에 저장</a:t>
            </a:r>
            <a:endParaRPr lang="ko-KR" altLang="en-US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912235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YouTube 댓글 크롤링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유튜브 클롤링 함수</a:t>
            </a:r>
            <a:r>
              <a:rPr lang="en-US" altLang="ko-KR"/>
              <a:t>,</a:t>
            </a:r>
            <a:r>
              <a:rPr lang="ko-KR" altLang="en-US"/>
              <a:t> collect_youtube_comments 작성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selenium + BeautifulSoup 기반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검색어로 상위 5개 영상 댓글 자동 수집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댓글 내용을 리스트로 반환</a:t>
            </a:r>
            <a:endParaRPr lang="ko-KR" altLang="en-US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7944777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591671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Streamlit 웹 애플리케이션</a:t>
            </a:r>
            <a:endParaRPr lang="ko-KR" alt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058751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>검색어 입력, CSV 저장/업로드 UI 구현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키워드 빈도그래프, 워드클라우드 시각화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sentiment_predictor로 감성 분석 후 평균 확률 테이블 출력</a:t>
            </a:r>
            <a:endParaRPr lang="ko-KR" altLang="en-US">
              <a:ln w="9525"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785882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0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분석 결과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68151"/>
            <a:ext cx="4572000" cy="532169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762690"/>
            <a:ext cx="4572000" cy="533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9805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0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use-case diagram</a:t>
            </a:r>
            <a:endParaRPr lang="en-US" altLang="ko-KR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253215"/>
            <a:ext cx="9144000" cy="435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7562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idx="0"/>
          </p:nvPr>
        </p:nvSpPr>
        <p:spPr>
          <a:xfrm>
            <a:off x="689339" y="0"/>
            <a:ext cx="7765322" cy="97045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요구사항 명세서</a:t>
            </a:r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188153" y="1085010"/>
          <a:ext cx="8767693" cy="4509135"/>
        </p:xfrm>
        <a:graphic>
          <a:graphicData uri="http://schemas.openxmlformats.org/drawingml/2006/table">
            <a:tbl>
              <a:tblPr firstRow="1" bandRow="1"/>
              <a:tblGrid>
                <a:gridCol w="955648"/>
                <a:gridCol w="652267"/>
                <a:gridCol w="652267"/>
                <a:gridCol w="1562409"/>
                <a:gridCol w="4292832"/>
                <a:gridCol w="652267"/>
              </a:tblGrid>
              <a:tr h="360464">
                <a:tc gridSpan="6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xmlns:mc="http://schemas.openxmlformats.org/markup-compatibility/2006" xmlns:hp="http://schemas.haansoft.com/office/presentation/8.0" sz="2000" b="1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3915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요구사항ID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요구사항명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내역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5648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Keyword-01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 입력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유튜브 댓글 수집(크롤링)을 위한 검색 키워드 입력이 가능함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2978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CSV-01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CSV파일 업로드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 입력 대신 CSV파일을 직접 업로드해 분석할 수 있음(크롤링 생략)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5648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CSV-02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CSV파일 저장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크롤링 결과(수집한 댓글)를 CSV파일로 저장하는 옵션이 제공됨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2978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WordCount-01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 수 설정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빈도수 그래프와 워드클라우드에 표기되는 단어 수를 설정할 수 있음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9442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Display-01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빈도수 그래프 표기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네비게이션 바 최하단 댓글 수집 실행 버튼을 클릭하면 키워드 검색 최상단 유튜브 영상 5개의 댓글에서 많은 순으로 단어의 바그래프가 표기됨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9442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Display-02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워드클라우드 표기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네비게이션 바 최하단 댓글 수집 실행 버튼을 클릭하면 키워드 검색 최상단 유튜브 영상 5개의 댓글에서 많은 순으로 단어의 워드클라우드가 표기됨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9442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Display-03</a:t>
                      </a:r>
                      <a:endParaRPr xmlns:mc="http://schemas.openxmlformats.org/markup-compatibility/2006" xmlns:hp="http://schemas.haansoft.com/office/presentation/8.0" lang="EN-US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endParaRPr xmlns:mc="http://schemas.openxmlformats.org/markup-compatibility/2006" xmlns:hp="http://schemas.haansoft.com/office/presentation/8.0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감성 분석 결과 표기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네비게이션 바 최하단 댓글 수집 실행 버튼을 클릭하면 키워드 검색 최상단 유튜브 영상 5개의 댓글에서 감성 분석을 진행해 평균치와 결과가 표기됨</a:t>
                      </a:r>
                      <a:endParaRPr xmlns:mc="http://schemas.openxmlformats.org/markup-compatibility/2006" xmlns:hp="http://schemas.haansoft.com/office/presentation/8.0" sz="12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100" b="0" i="0" u="none" strike="noStrike" baseline="0" mc:Ignorable="hp" hp:hslEmbossed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100" b="0" i="0" u="none" strike="noStrike" baseline="0" mc:Ignorable="hp" hp:hslEmbossed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lnL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762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990154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BEF48-598C-4A38-BB43-E57C8754C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399624"/>
            <a:ext cx="7765322" cy="4058751"/>
          </a:xfrm>
        </p:spPr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36900" indent="0" algn="ctr">
              <a:buNone/>
            </a:pPr>
            <a:r>
              <a:rPr lang="ko-KR" altLang="en-US" sz="350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10252036"/>
      </p:ext>
    </p:extLst>
  </p:cSld>
  <p:clrMapOvr>
    <a:masterClrMapping/>
  </p:clrMapOvr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MS PGothic"/>
        <a:font script="Hang" typeface="돋움"/>
        <a:font script="Hans" typeface="方正舒体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MS PGothic"/>
        <a:font script="Hang" typeface="돋움"/>
        <a:font script="Hans" typeface="方正舒体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215</ep:Words>
  <ep:PresentationFormat>화면 슬라이드 쇼(4:3)</ep:PresentationFormat>
  <ep:Paragraphs>59</ep:Paragraphs>
  <ep:Slides>18</ep:Slides>
  <ep:Notes>18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슬레이트</vt:lpstr>
      <vt:lpstr>YouTube Crawler</vt:lpstr>
      <vt:lpstr>목차</vt:lpstr>
      <vt:lpstr>데이터 준비 및 전처리</vt:lpstr>
      <vt:lpstr>데이터 준비 및 전처리</vt:lpstr>
      <vt:lpstr>데이터 준비 및 전처리</vt:lpstr>
      <vt:lpstr>데이터 준비 및 전처리</vt:lpstr>
      <vt:lpstr>데이터 준비 및 전처리</vt:lpstr>
      <vt:lpstr>데이터 준비 및 전처리</vt:lpstr>
      <vt:lpstr>데이터 준비 및 전처리</vt:lpstr>
      <vt:lpstr>데이터 준비 및 전처리</vt:lpstr>
      <vt:lpstr>데이터 준비 및 전처리</vt:lpstr>
      <vt:lpstr>모델 학습 및 저장</vt:lpstr>
      <vt:lpstr>YouTube 댓글 크롤링</vt:lpstr>
      <vt:lpstr>Streamlit 웹 애플리케이션</vt:lpstr>
      <vt:lpstr>분석 결과</vt:lpstr>
      <vt:lpstr>use-case diagram</vt:lpstr>
      <vt:lpstr>요구사항 명세서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User</dc:creator>
  <dc:description>generated using python-pptx</dc:description>
  <cp:lastModifiedBy>rlaah</cp:lastModifiedBy>
  <dcterms:modified xsi:type="dcterms:W3CDTF">2025-06-24T23:00:38.391</dcterms:modified>
  <cp:revision>12</cp:revision>
  <dc:title>HandSynth(핸드신스)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